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7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-1474" y="-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9F02BF4-FBF2-4DC0-B5A6-4A039CCD2E01}" type="datetimeFigureOut">
              <a:rPr lang="en-US"/>
              <a:pPr>
                <a:defRPr/>
              </a:pPr>
              <a:t>11/18/2013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BEC3AB7-26EE-486E-8851-437F839E03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06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CC0944-7920-456E-924F-F53E7B180DE1}" type="slidenum">
              <a:rPr lang="en-US" altLang="en-US" smtClean="0"/>
              <a:pPr eaLnBrk="1" hangingPunct="1"/>
              <a:t>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E5649F2-8D3B-4125-A5AB-BD287AB35C75}" type="slidenum">
              <a:rPr lang="en-US" altLang="en-US" smtClean="0"/>
              <a:pPr eaLnBrk="1" hangingPunct="1"/>
              <a:t>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A1532C5-5563-4F00-AAEC-569E2B273DB9}" type="slidenum">
              <a:rPr lang="en-US" altLang="en-US" smtClean="0"/>
              <a:pPr eaLnBrk="1" hangingPunct="1"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104A6E6-CEEA-4A6E-A216-4CF0B93E6E67}" type="slidenum">
              <a:rPr lang="en-US" altLang="en-US" smtClean="0"/>
              <a:pPr eaLnBrk="1" hangingPunct="1"/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12000A-4A59-4AE8-9E38-90DCB00652E4}" type="slidenum">
              <a:rPr lang="en-US" altLang="en-US" smtClean="0"/>
              <a:pPr eaLnBrk="1" hangingPunct="1"/>
              <a:t>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177608-A3CB-4D65-A3C5-FD9488F8DF94}" type="slidenum">
              <a:rPr lang="en-US" altLang="en-US" smtClean="0"/>
              <a:pPr eaLnBrk="1" hangingPunct="1"/>
              <a:t>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01CBD7-6844-44B1-8F92-84D0ECF4C6C1}" type="slidenum">
              <a:rPr lang="en-US" altLang="en-US" smtClean="0"/>
              <a:pPr eaLnBrk="1" hangingPunct="1"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1CD6E1-82E8-4110-B356-77EA67A28A09}" type="slidenum">
              <a:rPr lang="en-US" altLang="en-US" smtClean="0"/>
              <a:pPr eaLnBrk="1" hangingPunct="1"/>
              <a:t>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23A8AB-0CD0-407A-AF10-09578491507E}" type="slidenum">
              <a:rPr lang="en-US" altLang="en-US" smtClean="0"/>
              <a:pPr eaLnBrk="1" hangingPunct="1"/>
              <a:t>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632D9BF-9B10-4823-BE12-A5E29A08C667}" type="slidenum">
              <a:rPr lang="en-US" altLang="en-US" smtClean="0"/>
              <a:pPr eaLnBrk="1" hangingPunct="1"/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2CC7B69-4E73-4299-B34C-96ED2F2962D4}" type="slidenum">
              <a:rPr lang="en-US" altLang="en-US" smtClean="0"/>
              <a:pPr eaLnBrk="1" hangingPunct="1"/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0CB381-2E5E-446C-9853-81918A0A740C}" type="slidenum">
              <a:rPr lang="en-US" altLang="en-US" smtClean="0"/>
              <a:pPr eaLnBrk="1" hangingPunct="1"/>
              <a:t>12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54A55-7A93-4984-93CA-A00ECF06C0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0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EC2A2-23EA-402A-9337-1EDC54E2D8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5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7C243-D996-4C78-B4CE-30169A43C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2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A3314-C715-4051-8DA7-539C48CD0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2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81AB0-8C06-4597-BD25-6EC1C1E7C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1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413C-FE11-4FB4-A564-1EC59CB428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00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ABAAA-CE74-4AA8-A2E5-54CB3A647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5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942B8-2469-43A6-822A-960F3A93BC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4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7ECDE-6BE0-4466-832E-B36A56465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88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36EABD-72E5-4266-94DE-8A6ADC72A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24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4AA5C-BF72-4BC6-BBB8-933810C742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54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FA224-2C96-482D-B86F-80D276FEAD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32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72878-0A82-481B-83CE-A26F6FA9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91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D2B13-EB39-4FCF-8ECC-01C76D315A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88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2F5DD-924A-45B0-A247-46F6D0B37A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32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D843222-923C-4449-A385-578516126C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 txBox="1">
            <a:spLocks noChangeArrowheads="1"/>
          </p:cNvSpPr>
          <p:nvPr/>
        </p:nvSpPr>
        <p:spPr bwMode="auto">
          <a:xfrm>
            <a:off x="0" y="1752600"/>
            <a:ext cx="9144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r>
              <a:rPr lang="en-US" altLang="en-US" sz="3600" b="1">
                <a:solidFill>
                  <a:srgbClr val="FFC000"/>
                </a:solidFill>
              </a:rPr>
              <a:t>               Sections 5.1 &amp; 5.2 </a:t>
            </a:r>
          </a:p>
          <a:p>
            <a:pPr algn="r" eaLnBrk="1" hangingPunct="1"/>
            <a:r>
              <a:rPr lang="en-US" altLang="en-US" sz="3600" b="1">
                <a:solidFill>
                  <a:srgbClr val="FFC000"/>
                </a:solidFill>
              </a:rPr>
              <a:t>Queues and Formal Specification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5.1 Queues</a:t>
            </a:r>
          </a:p>
        </p:txBody>
      </p:sp>
      <p:sp>
        <p:nvSpPr>
          <p:cNvPr id="3075" name="Rectangle 10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1447800"/>
            <a:ext cx="8229600" cy="12731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Queue  </a:t>
            </a:r>
            <a:r>
              <a:rPr lang="en-US" altLang="en-US" sz="2800" smtClean="0"/>
              <a:t>A structure in which elements are added to the rear and removed from the front; a “first in, first out” (FIFO) structure</a:t>
            </a:r>
          </a:p>
        </p:txBody>
      </p:sp>
      <p:sp>
        <p:nvSpPr>
          <p:cNvPr id="3076" name="Text Box 8"/>
          <p:cNvSpPr txBox="1">
            <a:spLocks noChangeArrowheads="1"/>
          </p:cNvSpPr>
          <p:nvPr/>
        </p:nvSpPr>
        <p:spPr bwMode="auto">
          <a:xfrm>
            <a:off x="822325" y="4151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3077" name="Picture 12" descr="37461_CH05_FIG0501"/>
          <p:cNvPicPr>
            <a:picLocks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78013" y="3124200"/>
            <a:ext cx="5387975" cy="32575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Operations on Queues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Constructor</a:t>
            </a:r>
          </a:p>
          <a:p>
            <a:pPr lvl="1" eaLnBrk="1" hangingPunct="1"/>
            <a:r>
              <a:rPr lang="en-US" altLang="en-US" smtClean="0"/>
              <a:t>new</a:t>
            </a:r>
            <a:r>
              <a:rPr lang="en-US" altLang="en-US" i="1" smtClean="0"/>
              <a:t> - </a:t>
            </a:r>
            <a:r>
              <a:rPr lang="en-US" altLang="en-US" smtClean="0"/>
              <a:t>creates an empty queue</a:t>
            </a:r>
          </a:p>
          <a:p>
            <a:pPr eaLnBrk="1" hangingPunct="1"/>
            <a:r>
              <a:rPr lang="en-US" altLang="en-US" smtClean="0"/>
              <a:t>Transformers</a:t>
            </a:r>
          </a:p>
          <a:p>
            <a:pPr lvl="1" eaLnBrk="1" hangingPunct="1"/>
            <a:r>
              <a:rPr lang="en-US" altLang="en-US" smtClean="0"/>
              <a:t>enqueue</a:t>
            </a:r>
            <a:r>
              <a:rPr lang="en-US" altLang="en-US" i="1" smtClean="0"/>
              <a:t> - </a:t>
            </a:r>
            <a:r>
              <a:rPr lang="en-US" altLang="en-US" smtClean="0"/>
              <a:t>adds an element to the rear of a queue </a:t>
            </a:r>
          </a:p>
          <a:p>
            <a:pPr lvl="1" eaLnBrk="1" hangingPunct="1"/>
            <a:r>
              <a:rPr lang="en-US" altLang="en-US" smtClean="0"/>
              <a:t>dequeue - removes and returns the front element of the queue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6"/>
          <p:cNvSpPr txBox="1">
            <a:spLocks noChangeArrowheads="1"/>
          </p:cNvSpPr>
          <p:nvPr/>
        </p:nvSpPr>
        <p:spPr bwMode="auto">
          <a:xfrm>
            <a:off x="533400" y="1524000"/>
            <a:ext cx="2325688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200" b="1"/>
              <a:t>Effects of</a:t>
            </a:r>
          </a:p>
          <a:p>
            <a:pPr eaLnBrk="1" hangingPunct="1"/>
            <a:r>
              <a:rPr lang="en-US" altLang="en-US" sz="3200" b="1"/>
              <a:t>Queue </a:t>
            </a:r>
          </a:p>
          <a:p>
            <a:pPr eaLnBrk="1" hangingPunct="1"/>
            <a:r>
              <a:rPr lang="en-US" altLang="en-US" sz="3200" b="1"/>
              <a:t>Operations</a:t>
            </a:r>
          </a:p>
        </p:txBody>
      </p:sp>
      <p:pic>
        <p:nvPicPr>
          <p:cNvPr id="5123" name="Picture 8" descr="37461_CH05_FIG0502"/>
          <p:cNvPicPr>
            <a:picLocks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76600" y="625475"/>
            <a:ext cx="5562600" cy="531812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Using Queues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Operating systems often maintain a queue of processes that are ready to execute or that are waiting for a particular event to occur.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Computer systems must often provide a “holding area” for messages between two processes, two programs, or even two systems. This holding area is usually called a “buffer” and is often implemented as a queue.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Our software queues have counterparts in real world queues. We wait in queues to buy pizza, to enter movie theaters, to drive on a turnpike, and to ride on a roller coaster. Another important application of the queue data structure is to help us simulate and analyze such real world queues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5.2 Formal Specification</a:t>
            </a:r>
            <a:br>
              <a:rPr lang="en-US" altLang="en-US" sz="4000" smtClean="0"/>
            </a:br>
            <a:r>
              <a:rPr lang="en-US" altLang="en-US" sz="4000" smtClean="0"/>
              <a:t>(of our Queue ADT)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Recall from Section 5.1 that a queue is a “first-in first-out" structure, with primary operations </a:t>
            </a:r>
          </a:p>
          <a:p>
            <a:pPr lvl="1" eaLnBrk="1" hangingPunct="1"/>
            <a:r>
              <a:rPr lang="en-US" altLang="en-US" sz="2400" smtClean="0"/>
              <a:t>enqueue</a:t>
            </a:r>
            <a:r>
              <a:rPr lang="en-US" altLang="en-US" sz="2400" i="1" smtClean="0"/>
              <a:t> - </a:t>
            </a:r>
            <a:r>
              <a:rPr lang="en-US" altLang="en-US" sz="2400" smtClean="0"/>
              <a:t>adds an element to the rear of a queue </a:t>
            </a:r>
          </a:p>
          <a:p>
            <a:pPr lvl="1" eaLnBrk="1" hangingPunct="1"/>
            <a:r>
              <a:rPr lang="en-US" altLang="en-US" sz="2400" smtClean="0"/>
              <a:t>dequeue - removes and returns the front element of the queue push - adds an element to the top of the stack</a:t>
            </a:r>
          </a:p>
          <a:p>
            <a:pPr eaLnBrk="1" hangingPunct="1"/>
            <a:r>
              <a:rPr lang="en-US" altLang="en-US" sz="2800" smtClean="0"/>
              <a:t>In addition we need a constructor that creates an empty queue </a:t>
            </a:r>
          </a:p>
          <a:p>
            <a:pPr eaLnBrk="1" hangingPunct="1"/>
            <a:r>
              <a:rPr lang="en-US" altLang="en-US" sz="2800" smtClean="0"/>
              <a:t>Our Queue ADT will be generic, allowing the class of objects held by the queue to be specified upon instantiation of the queue.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Completing the Formal Specification</a:t>
            </a:r>
            <a:br>
              <a:rPr lang="en-US" altLang="en-US" sz="4000" smtClean="0"/>
            </a:br>
            <a:endParaRPr lang="en-US" altLang="en-US" sz="400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332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 smtClean="0"/>
              <a:t>To complete the formal specification of the Queue ADT we need to </a:t>
            </a:r>
          </a:p>
          <a:p>
            <a:pPr lvl="1" eaLnBrk="1" hangingPunct="1"/>
            <a:r>
              <a:rPr lang="en-US" altLang="en-US" smtClean="0"/>
              <a:t>Identify and address any exceptional situations</a:t>
            </a:r>
          </a:p>
          <a:p>
            <a:pPr lvl="1" eaLnBrk="1" hangingPunct="1"/>
            <a:r>
              <a:rPr lang="en-US" altLang="en-US" smtClean="0"/>
              <a:t>Determine boundedness</a:t>
            </a:r>
          </a:p>
          <a:p>
            <a:pPr lvl="1" eaLnBrk="1" hangingPunct="1"/>
            <a:r>
              <a:rPr lang="en-US" altLang="en-US" smtClean="0"/>
              <a:t>Define the Queue interface or interfaces</a:t>
            </a:r>
          </a:p>
          <a:p>
            <a:pPr eaLnBrk="1" hangingPunct="1"/>
            <a:r>
              <a:rPr lang="en-US" altLang="en-US" smtClean="0"/>
              <a:t>We use the same approach we used for Stacks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Exceptional Situations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dequeue – what if the queue is empty?</a:t>
            </a:r>
          </a:p>
          <a:p>
            <a:pPr lvl="1" eaLnBrk="1" hangingPunct="1"/>
            <a:r>
              <a:rPr lang="en-US" altLang="en-US" smtClean="0"/>
              <a:t>throw a </a:t>
            </a:r>
            <a:r>
              <a:rPr lang="en-US" altLang="en-US" smtClean="0">
                <a:latin typeface="Courier New" pitchFamily="49" charset="0"/>
              </a:rPr>
              <a:t>QueueUnderflowException</a:t>
            </a:r>
          </a:p>
          <a:p>
            <a:pPr lvl="1" eaLnBrk="1" hangingPunct="1"/>
            <a:r>
              <a:rPr lang="en-US" altLang="en-US" smtClean="0"/>
              <a:t>plus define an </a:t>
            </a:r>
            <a:r>
              <a:rPr lang="en-US" altLang="en-US" smtClean="0">
                <a:latin typeface="Courier New" pitchFamily="49" charset="0"/>
              </a:rPr>
              <a:t>isEmpty</a:t>
            </a:r>
            <a:r>
              <a:rPr lang="en-US" altLang="en-US" smtClean="0"/>
              <a:t> method for use by the application</a:t>
            </a:r>
          </a:p>
          <a:p>
            <a:pPr eaLnBrk="1" hangingPunct="1"/>
            <a:r>
              <a:rPr lang="en-US" altLang="en-US" smtClean="0"/>
              <a:t>enqueue – what if the queue is full?</a:t>
            </a:r>
          </a:p>
          <a:p>
            <a:pPr lvl="1" eaLnBrk="1" hangingPunct="1"/>
            <a:r>
              <a:rPr lang="en-US" altLang="en-US" smtClean="0"/>
              <a:t>throw a </a:t>
            </a:r>
            <a:r>
              <a:rPr lang="en-US" altLang="en-US" smtClean="0">
                <a:latin typeface="Courier New" pitchFamily="49" charset="0"/>
              </a:rPr>
              <a:t>QueueOverflowException</a:t>
            </a:r>
          </a:p>
          <a:p>
            <a:pPr lvl="1" eaLnBrk="1" hangingPunct="1"/>
            <a:r>
              <a:rPr lang="en-US" altLang="en-US" smtClean="0"/>
              <a:t>plus define an </a:t>
            </a:r>
            <a:r>
              <a:rPr lang="en-US" altLang="en-US" smtClean="0">
                <a:latin typeface="Courier New" pitchFamily="49" charset="0"/>
              </a:rPr>
              <a:t>isFull</a:t>
            </a:r>
            <a:r>
              <a:rPr lang="en-US" altLang="en-US" smtClean="0"/>
              <a:t> method for use by the application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Boundedness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We support two versions of the Queue ADT</a:t>
            </a:r>
          </a:p>
          <a:p>
            <a:pPr lvl="1" eaLnBrk="1" hangingPunct="1"/>
            <a:r>
              <a:rPr lang="en-US" altLang="en-US" sz="2400" smtClean="0"/>
              <a:t>a bounded version</a:t>
            </a:r>
          </a:p>
          <a:p>
            <a:pPr lvl="1" eaLnBrk="1" hangingPunct="1"/>
            <a:r>
              <a:rPr lang="en-US" altLang="en-US" sz="2400" smtClean="0"/>
              <a:t>an unbounded version</a:t>
            </a:r>
          </a:p>
          <a:p>
            <a:pPr eaLnBrk="1" hangingPunct="1"/>
            <a:r>
              <a:rPr lang="en-US" altLang="en-US" sz="2800" smtClean="0"/>
              <a:t>We define three interfaces</a:t>
            </a:r>
          </a:p>
          <a:p>
            <a:pPr lvl="1" eaLnBrk="1" hangingPunct="1"/>
            <a:r>
              <a:rPr lang="en-US" altLang="en-US" sz="2400" smtClean="0">
                <a:latin typeface="Courier New" pitchFamily="49" charset="0"/>
              </a:rPr>
              <a:t>QueueInterface</a:t>
            </a:r>
            <a:r>
              <a:rPr lang="en-US" altLang="en-US" sz="2400" smtClean="0"/>
              <a:t>: features of a queue not affected by boundedness</a:t>
            </a:r>
          </a:p>
          <a:p>
            <a:pPr lvl="1" eaLnBrk="1" hangingPunct="1"/>
            <a:r>
              <a:rPr lang="en-US" altLang="en-US" sz="2400" smtClean="0">
                <a:latin typeface="Courier New" pitchFamily="49" charset="0"/>
              </a:rPr>
              <a:t>BoundedQueueInterface</a:t>
            </a:r>
            <a:r>
              <a:rPr lang="en-US" altLang="en-US" sz="2400" smtClean="0"/>
              <a:t>: features specific to a bounded queue</a:t>
            </a:r>
          </a:p>
          <a:p>
            <a:pPr lvl="1" eaLnBrk="1" hangingPunct="1"/>
            <a:r>
              <a:rPr lang="en-US" altLang="en-US" sz="2400" smtClean="0">
                <a:latin typeface="Courier New" pitchFamily="49" charset="0"/>
              </a:rPr>
              <a:t>UnboundedQueueInterface</a:t>
            </a:r>
            <a:r>
              <a:rPr lang="en-US" altLang="en-US" sz="2400" smtClean="0"/>
              <a:t>: features specific to an unbounded queue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Courier New" pitchFamily="49" charset="0"/>
              </a:rPr>
              <a:t>QueueInterface</a:t>
            </a: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228600" y="1981200"/>
            <a:ext cx="8455025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1400">
                <a:latin typeface="Courier New" pitchFamily="49" charset="0"/>
              </a:rPr>
              <a:t>//---------------------------------------------------------------------------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QueueInterface.java          by Dale/Joyce/Weems                 Chapter 5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Interface for a class that implements a queue of Objects.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 A queue is a first-in, first-out structure.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//---------------------------------------------------------------------------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package ch05.queues;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interface QueueInterface&lt;T&gt;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T dequeue() throws QueueUnderflowException;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Throws QueueUnderflowException if this queue is empty,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otherwise removes front element from this queue and returns it.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boolean isEmpty();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Returns true if this queue is empty, otherwise returns false.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The Remaining Queue Interfaces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457200" y="1219200"/>
            <a:ext cx="7543800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1"/>
              <a:t>The BoundedQueueInterface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package ch05.queues;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interface BoundedQueueInterface&lt;T&gt; extends QueueInterface&lt;T&gt;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void enqueue(T element) throws QueueOverflowException;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Throws QueueOverflowException if this queue is full,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otherwise adds element to the rear of this queue.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boolean isFull();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Returns true if this queue is full, otherwise returns false.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 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b="1"/>
              <a:t>The UnboundedQueueInterface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package ch05.queues;</a:t>
            </a:r>
          </a:p>
          <a:p>
            <a:pPr eaLnBrk="1" hangingPunct="1"/>
            <a:endParaRPr lang="en-US" altLang="en-US" sz="1400">
              <a:latin typeface="Courier New" pitchFamily="49" charset="0"/>
            </a:endParaRP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public interface UnboundedQueueInterface&lt;T&gt; extends QueueInterface&lt;T&gt;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{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void enqueue(T element);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  // Adds element to the rear of this queue.</a:t>
            </a:r>
          </a:p>
          <a:p>
            <a:pPr eaLnBrk="1" hangingPunct="1"/>
            <a:r>
              <a:rPr lang="en-US" altLang="en-US" sz="1400">
                <a:latin typeface="Courier New" pitchFamily="49" charset="0"/>
              </a:rPr>
              <a:t>}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Relationships among Queue Interfaces and Exception Classes</a:t>
            </a:r>
          </a:p>
        </p:txBody>
      </p:sp>
      <p:pic>
        <p:nvPicPr>
          <p:cNvPr id="13315" name="Picture 5" descr="C:\Users\Dan\Desktop\edition3\Art Files\13549_CH05\13549_CH05_FIG0503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828800"/>
            <a:ext cx="9109075" cy="365760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2281</TotalTime>
  <Words>597</Words>
  <Application>Microsoft Office PowerPoint</Application>
  <PresentationFormat>On-screen Show (4:3)</PresentationFormat>
  <Paragraphs>100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Default Design</vt:lpstr>
      <vt:lpstr>PowerPoint Presentation</vt:lpstr>
      <vt:lpstr>5.1 Queues</vt:lpstr>
      <vt:lpstr>Operations on Queues</vt:lpstr>
      <vt:lpstr>PowerPoint Presentation</vt:lpstr>
      <vt:lpstr>Using Queues</vt:lpstr>
      <vt:lpstr>5.2 Formal Specification (of our Queue ADT)</vt:lpstr>
      <vt:lpstr>Completing the Formal Specification </vt:lpstr>
      <vt:lpstr>Exceptional Situations</vt:lpstr>
      <vt:lpstr>Boundedness</vt:lpstr>
      <vt:lpstr>QueueInterface</vt:lpstr>
      <vt:lpstr>The Remaining Queue Interfaces</vt:lpstr>
      <vt:lpstr>Relationships among Queue Interfaces and Exception Classes</vt:lpstr>
      <vt:lpstr>PowerPoint Presentation</vt:lpstr>
    </vt:vector>
  </TitlesOfParts>
  <Company>Villanova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Getting Organized</dc:title>
  <dc:creator>Daniel Thomas Joyce</dc:creator>
  <cp:lastModifiedBy>tbredemeier</cp:lastModifiedBy>
  <cp:revision>57</cp:revision>
  <dcterms:created xsi:type="dcterms:W3CDTF">2006-05-31T11:48:50Z</dcterms:created>
  <dcterms:modified xsi:type="dcterms:W3CDTF">2013-11-18T15:12:16Z</dcterms:modified>
</cp:coreProperties>
</file>