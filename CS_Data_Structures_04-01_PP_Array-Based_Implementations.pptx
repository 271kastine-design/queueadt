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73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1474" y="-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F421D60-7F86-4C56-8865-D3100C83BB2B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5995CB1-1A9B-4EF0-826E-C074721B91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31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B785574-A8AD-4746-80C1-E9B0E22DA28E}" type="slidenum">
              <a:rPr lang="en-US" altLang="en-US" smtClean="0"/>
              <a:pPr eaLnBrk="1" hangingPunct="1"/>
              <a:t>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477326-B5D5-41FA-A247-677764304EC4}" type="slidenum">
              <a:rPr lang="en-US" altLang="en-US" smtClean="0"/>
              <a:pPr eaLnBrk="1" hangingPunct="1"/>
              <a:t>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7FC2AED-1EBF-4606-BCC2-B0CD67281243}" type="slidenum">
              <a:rPr lang="en-US" altLang="en-US" smtClean="0"/>
              <a:pPr eaLnBrk="1" hangingPunct="1"/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DCB7D7C-08DA-4F18-A915-41826128EC74}" type="slidenum">
              <a:rPr lang="en-US" altLang="en-US" smtClean="0"/>
              <a:pPr eaLnBrk="1" hangingPunct="1"/>
              <a:t>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8CE0F20-859F-48E5-8C19-4E0201F88235}" type="slidenum">
              <a:rPr lang="en-US" altLang="en-US" smtClean="0"/>
              <a:pPr eaLnBrk="1" hangingPunct="1"/>
              <a:t>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DC911C-CC79-40B6-8D3E-287BBA05EEC0}" type="slidenum">
              <a:rPr lang="en-US" altLang="en-US" smtClean="0"/>
              <a:pPr eaLnBrk="1" hangingPunct="1"/>
              <a:t>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552680-D254-46CB-AD85-A04C595C28F5}" type="slidenum">
              <a:rPr lang="en-US" altLang="en-US" smtClean="0"/>
              <a:pPr eaLnBrk="1" hangingPunct="1"/>
              <a:t>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D1DDF8-C50B-4462-AF40-C3C8D2D57915}" type="slidenum">
              <a:rPr lang="en-US" altLang="en-US" smtClean="0"/>
              <a:pPr eaLnBrk="1" hangingPunct="1"/>
              <a:t>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740AD9F-5B6D-4A34-B73B-9E94DDC78125}" type="slidenum">
              <a:rPr lang="en-US" altLang="en-US" smtClean="0"/>
              <a:pPr eaLnBrk="1" hangingPunct="1"/>
              <a:t>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674950-5BA3-42CC-9D5D-28B8CFA6DB99}" type="slidenum">
              <a:rPr lang="en-US" altLang="en-US" smtClean="0"/>
              <a:pPr eaLnBrk="1" hangingPunct="1"/>
              <a:t>10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5E9CE0-7977-4B66-9A0B-63EB4CC4E232}" type="slidenum">
              <a:rPr lang="en-US" altLang="en-US" smtClean="0"/>
              <a:pPr eaLnBrk="1" hangingPunct="1"/>
              <a:t>11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E9FF4B0-0DC8-4445-BF55-654B423951C4}" type="slidenum">
              <a:rPr lang="en-US" altLang="en-US" smtClean="0"/>
              <a:pPr eaLnBrk="1" hangingPunct="1"/>
              <a:t>12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8E49E94-4541-4E59-A396-718B8498D1A1}" type="slidenum">
              <a:rPr lang="en-US" altLang="en-US" smtClean="0"/>
              <a:pPr eaLnBrk="1" hangingPunct="1"/>
              <a:t>13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B1D71-F376-4B75-845E-99597FF003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30A66C-B4CE-451C-AA59-F58EB78C50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4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CA1EB-B028-465B-9A61-33808FF330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1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4FBBE-2E2D-437D-8021-F67211677F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3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0BA44-C398-4A37-B94E-C75CE774D4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4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8DF64-DC09-473C-A2BF-56AAA98077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1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F4595-E667-4E44-8725-B12CB6D1F6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1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26ED7-440F-4D85-BE85-A03A0C68AF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4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9FB86-AE4D-4EC8-AA18-D24CA52FF7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9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BAA5B-B92A-4989-980D-E8B8A6A924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8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E304C-3936-4A6D-888D-8C78FC96A4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80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26C95-08C4-4E17-8349-B4783DA33B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92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C43F3-EDB3-4323-9B00-49233D34C2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86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E92A6-A77B-41FB-BB1B-9E1DAA25BD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75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121BD-8F6E-4320-946A-B340CFA154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8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4D9C9-95E3-4F82-8A64-1A0B01E2E1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9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9A9F78B-0C9D-4295-B24D-9682BD4AF8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 txBox="1">
            <a:spLocks noChangeArrowheads="1"/>
          </p:cNvSpPr>
          <p:nvPr/>
        </p:nvSpPr>
        <p:spPr bwMode="auto">
          <a:xfrm>
            <a:off x="0" y="1752600"/>
            <a:ext cx="9144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3600" b="1">
                <a:solidFill>
                  <a:srgbClr val="FFC000"/>
                </a:solidFill>
              </a:rPr>
              <a:t>               Section 5.3 </a:t>
            </a:r>
          </a:p>
          <a:p>
            <a:pPr algn="r" eaLnBrk="1" hangingPunct="1"/>
            <a:r>
              <a:rPr lang="en-US" altLang="en-US" sz="3600" b="1">
                <a:solidFill>
                  <a:srgbClr val="FFC000"/>
                </a:solidFill>
              </a:rPr>
              <a:t>Array-Based Implementations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5.3 Array-Based Implementations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this section we study two array-based implementations of the Queue ADT</a:t>
            </a:r>
          </a:p>
          <a:p>
            <a:pPr lvl="1" eaLnBrk="1" hangingPunct="1"/>
            <a:r>
              <a:rPr lang="en-US" altLang="en-US" smtClean="0"/>
              <a:t>a bounded queue version</a:t>
            </a:r>
          </a:p>
          <a:p>
            <a:pPr lvl="1" eaLnBrk="1" hangingPunct="1"/>
            <a:r>
              <a:rPr lang="en-US" altLang="en-US" smtClean="0"/>
              <a:t>an unbounded queue version</a:t>
            </a:r>
          </a:p>
          <a:p>
            <a:pPr eaLnBrk="1" hangingPunct="1"/>
            <a:r>
              <a:rPr lang="en-US" altLang="en-US" smtClean="0"/>
              <a:t>First we establish how we will hold the queue elements in the array</a:t>
            </a:r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Fixed Front Design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4800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After four calls to enqueue with arguments ‘A’, ‘B’, ‘C’, and ‘D’: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Dequeue the front element: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Move every element in the queue up one slot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dequeue operation is inefficient, so we do not use this approach</a:t>
            </a:r>
          </a:p>
        </p:txBody>
      </p:sp>
      <p:pic>
        <p:nvPicPr>
          <p:cNvPr id="4100" name="Picture 4" descr="37461_CH05_AIT0501"/>
          <p:cNvPicPr>
            <a:picLocks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1828800"/>
            <a:ext cx="3124200" cy="847725"/>
          </a:xfrm>
          <a:noFill/>
        </p:spPr>
      </p:pic>
      <p:pic>
        <p:nvPicPr>
          <p:cNvPr id="4101" name="Picture 6" descr="37461_CH05_AIT0502"/>
          <p:cNvPicPr>
            <a:picLocks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3106738"/>
            <a:ext cx="2209800" cy="644525"/>
          </a:xfrm>
          <a:noFill/>
        </p:spPr>
      </p:pic>
      <p:pic>
        <p:nvPicPr>
          <p:cNvPr id="4102" name="Picture 8" descr="37461_CH05_AIT05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191000"/>
            <a:ext cx="3352800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2667000" cy="11430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Floating Front Design</a:t>
            </a:r>
          </a:p>
        </p:txBody>
      </p:sp>
      <p:pic>
        <p:nvPicPr>
          <p:cNvPr id="5123" name="Picture 10" descr="37461_CH05_FIG0505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2400" y="228600"/>
            <a:ext cx="4821238" cy="6019800"/>
          </a:xfrm>
          <a:noFill/>
        </p:spPr>
      </p:pic>
      <p:sp>
        <p:nvSpPr>
          <p:cNvPr id="5124" name="Text Box 12"/>
          <p:cNvSpPr txBox="1">
            <a:spLocks noChangeArrowheads="1"/>
          </p:cNvSpPr>
          <p:nvPr/>
        </p:nvSpPr>
        <p:spPr bwMode="auto">
          <a:xfrm>
            <a:off x="762000" y="3962400"/>
            <a:ext cx="17764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/>
              <a:t>We use this</a:t>
            </a:r>
          </a:p>
          <a:p>
            <a:pPr eaLnBrk="1" hangingPunct="1"/>
            <a:r>
              <a:rPr lang="en-US" altLang="en-US" sz="2400"/>
              <a:t>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667000"/>
            <a:ext cx="2667000" cy="11430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Wrap Around with Floating Front Design</a:t>
            </a:r>
          </a:p>
        </p:txBody>
      </p:sp>
      <p:pic>
        <p:nvPicPr>
          <p:cNvPr id="6147" name="Picture 5" descr="37461_CH05_FIG0506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7600" y="1692275"/>
            <a:ext cx="4495800" cy="34718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itchFamily="49" charset="0"/>
              </a:rPr>
              <a:t>ArrayBndQueue</a:t>
            </a:r>
            <a:r>
              <a:rPr lang="en-US" altLang="en-US" smtClean="0"/>
              <a:t> Class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457200" y="19050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</p:txBody>
      </p:sp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757238" y="1600200"/>
            <a:ext cx="7702550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>
                <a:latin typeface="Courier New" pitchFamily="49" charset="0"/>
              </a:rPr>
              <a:t>package ch05.queues;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public class ArrayBndQueue&lt;T&gt; implements BoundedQueueInterface&lt;T&gt;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final int DEFCAP = 100; // default capacity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T[] queue;              // array that holds queue elements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int numElements = 0;    // number of elements in the queue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int front = 0;          // index of front of queue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int rear;               // index of rear of queue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public ArrayBndQueue()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queue = (T[]) new Object[DEFCAP];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rear =  DEFCAP - 1;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public ArrayBndQueue(int maxSize)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queue = (T[]) new Object[maxSize];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rear =  maxSize - 1;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enqueue operation</a:t>
            </a: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609600" y="20574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746125" y="2160588"/>
            <a:ext cx="8239125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>
                <a:latin typeface="Courier New" pitchFamily="49" charset="0"/>
              </a:rPr>
              <a:t>public void enqueue(T element)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Throws QueueOverflowException if this queue is full,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otherwise adds element to the rear of this queue.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 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if (isFull())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throw new QueueOverflowException("Enqueue attempted on a full queue.");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else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rear = (rear + 1) % queue.length;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queue[rear] = element;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numElements = numElements + 1;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}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dequeue operation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609600" y="20574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746125" y="2160588"/>
            <a:ext cx="8239125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>
                <a:latin typeface="Courier New" pitchFamily="49" charset="0"/>
              </a:rPr>
              <a:t>public T dequeue()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Throws QueueUnderflowException if this queue is empty,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otherwise removes front element from this queue and returns it.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      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if (isEmpty())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throw new QueueUnderflowException(“Dequeue attempted on empty queue.”);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else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T toReturn = queue[front];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queue[front] = null;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front = (front + 1) % queue.length;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numElements = numElements - 1;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return toReturn;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 smtClean="0"/>
              <a:t>Remaining Queue Operations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533400" y="1752600"/>
            <a:ext cx="6884988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public boolean isEmpty()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Returns true if this queue is empty, otherwise returns false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             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return (numElements == 0);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}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public boolean isFull()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Returns true if this queue is full, otherwise returns false.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             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return (numElements == queue.length);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itchFamily="49" charset="0"/>
              </a:rPr>
              <a:t>ArrayUnbndQueue</a:t>
            </a:r>
            <a:r>
              <a:rPr lang="en-US" altLang="en-US" smtClean="0"/>
              <a:t> Class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457200" y="19050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</p:txBody>
      </p:sp>
      <p:sp>
        <p:nvSpPr>
          <p:cNvPr id="1126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The trick is to create a new, larger array, when needed, and copy the queue into the new array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smtClean="0"/>
              <a:t>Since enlarging the array is conceptually a separate operation from enqueing, we implement it as a separate </a:t>
            </a:r>
            <a:r>
              <a:rPr lang="en-US" altLang="en-US" sz="2400" smtClean="0">
                <a:latin typeface="Courier New" pitchFamily="49" charset="0"/>
              </a:rPr>
              <a:t>enlarge</a:t>
            </a:r>
            <a:r>
              <a:rPr lang="en-US" altLang="en-US" sz="2400" smtClean="0"/>
              <a:t>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smtClean="0"/>
              <a:t>This method instantiates an array with a size equal to the current capacity plus the original capacity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We can drop the </a:t>
            </a:r>
            <a:r>
              <a:rPr lang="en-US" altLang="en-US" sz="2800" smtClean="0">
                <a:latin typeface="Courier New" pitchFamily="49" charset="0"/>
              </a:rPr>
              <a:t>isFull</a:t>
            </a:r>
            <a:r>
              <a:rPr lang="en-US" altLang="en-US" sz="2800" smtClean="0"/>
              <a:t> method from the class, since it is not required by the Unbounded Queue Interface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The </a:t>
            </a:r>
            <a:r>
              <a:rPr lang="en-US" altLang="en-US" sz="2800" smtClean="0">
                <a:latin typeface="Courier New" pitchFamily="49" charset="0"/>
              </a:rPr>
              <a:t>dequeue</a:t>
            </a:r>
            <a:r>
              <a:rPr lang="en-US" altLang="en-US" sz="2800" smtClean="0"/>
              <a:t> and </a:t>
            </a:r>
            <a:r>
              <a:rPr lang="en-US" altLang="en-US" sz="2800" smtClean="0">
                <a:latin typeface="Courier New" pitchFamily="49" charset="0"/>
              </a:rPr>
              <a:t>isEmpty</a:t>
            </a:r>
            <a:r>
              <a:rPr lang="en-US" altLang="en-US" sz="2800" smtClean="0"/>
              <a:t> methods are unchanged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itchFamily="49" charset="0"/>
              </a:rPr>
              <a:t>ArrayUnbndQueue</a:t>
            </a:r>
            <a:r>
              <a:rPr lang="en-US" altLang="en-US" smtClean="0"/>
              <a:t> Class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457200" y="19050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57238" y="1371600"/>
            <a:ext cx="770255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>
                <a:latin typeface="Courier New" pitchFamily="49" charset="0"/>
              </a:rPr>
              <a:t>package ch05.queues;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public class </a:t>
            </a:r>
            <a:r>
              <a:rPr lang="en-US" altLang="en-US" sz="1400" u="sng">
                <a:latin typeface="Courier New" pitchFamily="49" charset="0"/>
              </a:rPr>
              <a:t>ArrayUnbndQueue&lt;T</a:t>
            </a:r>
            <a:r>
              <a:rPr lang="en-US" altLang="en-US" sz="1400">
                <a:latin typeface="Courier New" pitchFamily="49" charset="0"/>
              </a:rPr>
              <a:t>&gt; implements </a:t>
            </a:r>
            <a:r>
              <a:rPr lang="en-US" altLang="en-US" sz="1400" u="sng">
                <a:latin typeface="Courier New" pitchFamily="49" charset="0"/>
              </a:rPr>
              <a:t>UnboundedQueueInterface</a:t>
            </a:r>
            <a:r>
              <a:rPr lang="en-US" altLang="en-US" sz="1400">
                <a:latin typeface="Courier New" pitchFamily="49" charset="0"/>
              </a:rPr>
              <a:t>&lt;T&gt;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final int DEFCAP = 100; // default capacity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T[] queue;              // array that holds queue elements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</a:t>
            </a:r>
            <a:r>
              <a:rPr lang="en-US" altLang="en-US" sz="1400" u="sng">
                <a:latin typeface="Courier New" pitchFamily="49" charset="0"/>
              </a:rPr>
              <a:t>protected int origCap;</a:t>
            </a:r>
            <a:r>
              <a:rPr lang="en-US" altLang="en-US" sz="1400">
                <a:latin typeface="Courier New" pitchFamily="49" charset="0"/>
              </a:rPr>
              <a:t>            // original capacity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int numElements = 0;    // number of elements n the queue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int front = 0;          // index of front of queue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protected int rear = -1;          // index of rear of queue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public ArrayUnbndQueue()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queue = (T[]) new Object[DEFCAP];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rear = DEFCAP - 1;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</a:t>
            </a:r>
            <a:r>
              <a:rPr lang="en-US" altLang="en-US" sz="1400" u="sng">
                <a:latin typeface="Courier New" pitchFamily="49" charset="0"/>
              </a:rPr>
              <a:t>origCap = </a:t>
            </a:r>
            <a:r>
              <a:rPr lang="en-US" altLang="en-US" sz="1400">
                <a:latin typeface="Courier New" pitchFamily="49" charset="0"/>
              </a:rPr>
              <a:t>DEFCAP</a:t>
            </a:r>
            <a:r>
              <a:rPr lang="en-US" altLang="en-US" sz="1400" u="sng">
                <a:latin typeface="Courier New" pitchFamily="49" charset="0"/>
              </a:rPr>
              <a:t>;</a:t>
            </a:r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public ArrayUnbndQueue(int origCap)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queue = (T[]) new Object[origCap];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rear = origCap - 1;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</a:t>
            </a:r>
            <a:r>
              <a:rPr lang="en-US" altLang="en-US" sz="1400" u="sng">
                <a:latin typeface="Courier New" pitchFamily="49" charset="0"/>
              </a:rPr>
              <a:t>this.origCap = origCap;</a:t>
            </a:r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enlarge operation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09600" y="20574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09625" y="1752600"/>
            <a:ext cx="75946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>
                <a:latin typeface="Courier New" pitchFamily="49" charset="0"/>
              </a:rPr>
              <a:t>  private void enlarge()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Increments the capacity of the queue by an amount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equal to the original capacity.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// create the larger array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T[] larger = (T[]) new Object[queue.length + origCap];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// copy the contents from the smaller array into the larger array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int currSmaller = front;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for (int currLarger = 0; currLarger &lt; numElements; currLarger++)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  larger[currLarger] = queue[currSmaller];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  currSmaller = (currSmaller + 1) % queue.length;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</a:t>
            </a:r>
            <a:r>
              <a:rPr lang="es-ES_tradnl" altLang="en-US" sz="1400">
                <a:latin typeface="Courier New" pitchFamily="49" charset="0"/>
              </a:rPr>
              <a:t>}</a:t>
            </a:r>
          </a:p>
          <a:p>
            <a:pPr eaLnBrk="1" hangingPunct="1"/>
            <a:r>
              <a:rPr lang="es-ES_tradnl" altLang="en-US" sz="1400">
                <a:latin typeface="Courier New" pitchFamily="49" charset="0"/>
              </a:rPr>
              <a:t>    </a:t>
            </a:r>
          </a:p>
          <a:p>
            <a:pPr eaLnBrk="1" hangingPunct="1"/>
            <a:r>
              <a:rPr lang="es-ES_tradnl" altLang="en-US" sz="1400">
                <a:latin typeface="Courier New" pitchFamily="49" charset="0"/>
              </a:rPr>
              <a:t>    // update instance variables</a:t>
            </a:r>
          </a:p>
          <a:p>
            <a:pPr eaLnBrk="1" hangingPunct="1"/>
            <a:r>
              <a:rPr lang="es-ES_tradnl" altLang="en-US" sz="1400">
                <a:latin typeface="Courier New" pitchFamily="49" charset="0"/>
              </a:rPr>
              <a:t>    queue = larger;</a:t>
            </a:r>
          </a:p>
          <a:p>
            <a:pPr eaLnBrk="1" hangingPunct="1"/>
            <a:r>
              <a:rPr lang="es-ES_tradnl" altLang="en-US" sz="1400">
                <a:latin typeface="Courier New" pitchFamily="49" charset="0"/>
              </a:rPr>
              <a:t>    </a:t>
            </a:r>
            <a:r>
              <a:rPr lang="en-US" altLang="en-US" sz="1400">
                <a:latin typeface="Courier New" pitchFamily="49" charset="0"/>
              </a:rPr>
              <a:t>front = 0;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rear = numElements - 1;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enqueue operation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609600" y="20574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400">
              <a:latin typeface="Courier New" pitchFamily="49" charset="0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914400" y="2133600"/>
            <a:ext cx="4910138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>
                <a:latin typeface="Courier New" pitchFamily="49" charset="0"/>
              </a:rPr>
              <a:t>  public void enqueue(T element)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Adds element to the rear of this queue.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{  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</a:t>
            </a:r>
            <a:r>
              <a:rPr lang="en-US" altLang="en-US" sz="1400" u="sng">
                <a:latin typeface="Courier New" pitchFamily="49" charset="0"/>
              </a:rPr>
              <a:t>if (numElements == queue.length) </a:t>
            </a:r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  </a:t>
            </a:r>
            <a:r>
              <a:rPr lang="en-US" altLang="en-US" sz="1400" u="sng">
                <a:latin typeface="Courier New" pitchFamily="49" charset="0"/>
              </a:rPr>
              <a:t>enlarge();</a:t>
            </a:r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rear = (rear + 1) % queue.length;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queue[rear] = element;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  numElements = numElements + 1;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}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878</Words>
  <Application>Microsoft Office PowerPoint</Application>
  <PresentationFormat>On-screen Show (4:3)</PresentationFormat>
  <Paragraphs>157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Default Design</vt:lpstr>
      <vt:lpstr>PowerPoint Presentation</vt:lpstr>
      <vt:lpstr>5.3 Array-Based Implementations</vt:lpstr>
      <vt:lpstr>Fixed Front Design</vt:lpstr>
      <vt:lpstr>Floating Front Design</vt:lpstr>
      <vt:lpstr>Wrap Around with Floating Front Design</vt:lpstr>
      <vt:lpstr>The ArrayBndQueue Class</vt:lpstr>
      <vt:lpstr>The enqueue operation</vt:lpstr>
      <vt:lpstr>The dequeue operation</vt:lpstr>
      <vt:lpstr>Remaining Queue Operations</vt:lpstr>
      <vt:lpstr>The ArrayUnbndQueue Class</vt:lpstr>
      <vt:lpstr>The ArrayUnbndQueue Class</vt:lpstr>
      <vt:lpstr>The enlarge operation</vt:lpstr>
      <vt:lpstr>The enqueue operation</vt:lpstr>
      <vt:lpstr>PowerPoint Presentation</vt:lpstr>
    </vt:vector>
  </TitlesOfParts>
  <Company>Villanova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Getting Organized</dc:title>
  <dc:creator>Daniel Thomas Joyce</dc:creator>
  <cp:lastModifiedBy>tbredemeier</cp:lastModifiedBy>
  <cp:revision>60</cp:revision>
  <dcterms:created xsi:type="dcterms:W3CDTF">2006-05-31T11:48:50Z</dcterms:created>
  <dcterms:modified xsi:type="dcterms:W3CDTF">2013-11-18T15:14:08Z</dcterms:modified>
</cp:coreProperties>
</file>